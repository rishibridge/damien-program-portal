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6" r:id="rId9"/>
    <p:sldId id="267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7405180-320C-EB97-69F4-7821C7454954}">
          <p14:sldIdLst>
            <p14:sldId id="256"/>
            <p14:sldId id="257"/>
          </p14:sldIdLst>
        </p14:section>
        <p14:section name="Financials" id="{DC6C0954-570D-F3E2-AEA9-EF1CF3F5AE7F}">
          <p14:sldIdLst>
            <p14:sldId id="258"/>
          </p14:sldIdLst>
        </p14:section>
        <p14:section name="Patients" id="{6C349287-E41E-1F8C-D4BD-FD18E1E8611E}">
          <p14:sldIdLst>
            <p14:sldId id="262"/>
            <p14:sldId id="263"/>
            <p14:sldId id="259"/>
            <p14:sldId id="260"/>
          </p14:sldIdLst>
        </p14:section>
        <p14:section name="Sources &amp; Retention" id="{B7D27C61-4C2D-06D3-A3B0-12EAEDA276EE}">
          <p14:sldIdLst>
            <p14:sldId id="266"/>
            <p14:sldId id="267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07F9E-5BC8-4B8C-A929-1E9806FB41C4}" v="2" dt="2026-10-08T20:53:36.569"/>
    <p1510:client id="{E27EC3DF-58D7-4D22-AB47-38497DFED082}" v="50" dt="2026-10-08T14:54:08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31820"/>
                </a:solidFill>
                <a:latin typeface="+mn-lt"/>
              </a:defRPr>
            </a:pPr>
            <a:r>
              <a:rPr lang="en-US" sz="1400" b="1" i="0" u="none" strike="noStrike" dirty="0">
                <a:solidFill>
                  <a:srgbClr val="131820"/>
                </a:solidFill>
                <a:latin typeface="+mn-lt"/>
              </a:rPr>
              <a:t>Membership growth: active members by month</a:t>
            </a:r>
          </a:p>
          <a:p>
            <a:pPr>
              <a:defRPr sz="1400" b="1" i="0" u="none" strike="noStrike">
                <a:solidFill>
                  <a:srgbClr val="131820"/>
                </a:solidFill>
                <a:latin typeface="+mn-lt"/>
              </a:defRPr>
            </a:pPr>
            <a:r>
              <a:rPr lang="en-US" sz="1100" b="0" i="0" u="none" strike="noStrike" dirty="0">
                <a:solidFill>
                  <a:srgbClr val="131820"/>
                </a:solidFill>
                <a:latin typeface="+mn-lt"/>
              </a:rPr>
              <a:t>(includes members that cancelled in-month)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members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18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</c:v>
                </c:pt>
                <c:pt idx="1">
                  <c:v>39</c:v>
                </c:pt>
                <c:pt idx="2">
                  <c:v>67</c:v>
                </c:pt>
                <c:pt idx="3">
                  <c:v>107</c:v>
                </c:pt>
                <c:pt idx="4">
                  <c:v>162</c:v>
                </c:pt>
                <c:pt idx="5">
                  <c:v>313</c:v>
                </c:pt>
                <c:pt idx="6">
                  <c:v>423</c:v>
                </c:pt>
                <c:pt idx="7">
                  <c:v>644</c:v>
                </c:pt>
                <c:pt idx="8">
                  <c:v>862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A9-45E0-97B3-DCC9C23F1A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82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31820"/>
                </a:solidFill>
                <a:latin typeface="+mn-lt"/>
              </a:rPr>
              <a:t>Monthly program proceeds (after ad spend)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Program proceeds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18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10743</c:v>
                </c:pt>
                <c:pt idx="1">
                  <c:v>20558</c:v>
                </c:pt>
                <c:pt idx="2">
                  <c:v>18756</c:v>
                </c:pt>
                <c:pt idx="3">
                  <c:v>25496</c:v>
                </c:pt>
                <c:pt idx="4">
                  <c:v>22859</c:v>
                </c:pt>
                <c:pt idx="5">
                  <c:v>68562</c:v>
                </c:pt>
                <c:pt idx="6">
                  <c:v>166445</c:v>
                </c:pt>
                <c:pt idx="7">
                  <c:v>257058</c:v>
                </c:pt>
                <c:pt idx="8">
                  <c:v>371214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84-42F8-A402-C857A64679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\$#,##0,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82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31820"/>
                </a:solidFill>
                <a:latin typeface="+mn-lt"/>
              </a:rPr>
              <a:t>New enrollments by source and month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EPIC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87</c:v>
                </c:pt>
                <c:pt idx="6">
                  <c:v>80</c:v>
                </c:pt>
                <c:pt idx="7">
                  <c:v>165</c:v>
                </c:pt>
                <c:pt idx="8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F-40ED-B86E-C2791C327A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Media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21</c:v>
                </c:pt>
                <c:pt idx="3">
                  <c:v>37</c:v>
                </c:pt>
                <c:pt idx="4">
                  <c:v>48</c:v>
                </c:pt>
                <c:pt idx="5">
                  <c:v>73</c:v>
                </c:pt>
                <c:pt idx="6">
                  <c:v>45</c:v>
                </c:pt>
                <c:pt idx="7">
                  <c:v>89</c:v>
                </c:pt>
                <c:pt idx="8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F-40ED-B86E-C2791C327AB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16</c:v>
                </c:pt>
                <c:pt idx="1">
                  <c:v>9</c:v>
                </c:pt>
                <c:pt idx="2">
                  <c:v>4</c:v>
                </c:pt>
                <c:pt idx="3">
                  <c:v>2</c:v>
                </c:pt>
                <c:pt idx="4">
                  <c:v>6</c:v>
                </c:pt>
                <c:pt idx="5">
                  <c:v>1</c:v>
                </c:pt>
                <c:pt idx="6">
                  <c:v>8</c:v>
                </c:pt>
                <c:pt idx="7">
                  <c:v>2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2F-40ED-B86E-C2791C327AB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LHD</c:v>
                </c:pt>
              </c:strCache>
            </c:strRef>
          </c:tx>
          <c:spPr>
            <a:solidFill>
              <a:srgbClr val="EDA10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11</c:v>
                </c:pt>
                <c:pt idx="8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2F-40ED-B86E-C2791C327AB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McGohan Brabender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2F-40ED-B86E-C2791C327AB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00830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  <c:pt idx="7">
                  <c:v>8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2F-40ED-B86E-C2791C327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454E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82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31820"/>
                </a:solidFill>
                <a:latin typeface="+mn-lt"/>
              </a:rPr>
              <a:t>Members who enrolled before September (760 patients)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18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Enrolled</c:v>
                </c:pt>
                <c:pt idx="1">
                  <c:v>Saw a provider</c:v>
                </c:pt>
                <c:pt idx="2">
                  <c:v>Prescribed</c:v>
                </c:pt>
                <c:pt idx="3">
                  <c:v>Filled 1st Rx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760</c:v>
                </c:pt>
                <c:pt idx="1">
                  <c:v>684</c:v>
                </c:pt>
                <c:pt idx="2">
                  <c:v>608</c:v>
                </c:pt>
                <c:pt idx="3">
                  <c:v>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1-419B-815C-CEB53DCFE6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5EA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820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31820"/>
                </a:solidFill>
                <a:latin typeface="+mn-lt"/>
              </a:rPr>
              <a:t>Share of patients who started therapy still filling, by fill number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starters still filling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18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Fill 1</c:v>
                </c:pt>
                <c:pt idx="1">
                  <c:v>Fill 2</c:v>
                </c:pt>
                <c:pt idx="2">
                  <c:v>Fill 3</c:v>
                </c:pt>
                <c:pt idx="3">
                  <c:v>Fill 4</c:v>
                </c:pt>
                <c:pt idx="4">
                  <c:v>Fill 5</c:v>
                </c:pt>
                <c:pt idx="5">
                  <c:v>Fill 6</c:v>
                </c:pt>
                <c:pt idx="6">
                  <c:v>Fill 7</c:v>
                </c:pt>
                <c:pt idx="7">
                  <c:v>Fill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93.6</c:v>
                </c:pt>
                <c:pt idx="2">
                  <c:v>87.4</c:v>
                </c:pt>
                <c:pt idx="3">
                  <c:v>78.2</c:v>
                </c:pt>
                <c:pt idx="4">
                  <c:v>72.7</c:v>
                </c:pt>
                <c:pt idx="5">
                  <c:v>70.3</c:v>
                </c:pt>
                <c:pt idx="6">
                  <c:v>59.7</c:v>
                </c:pt>
                <c:pt idx="7">
                  <c:v>56.7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B0-447F-B53D-B28D91EB6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Wegovy Pen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</c:v>
                </c:pt>
                <c:pt idx="1">
                  <c:v>41</c:v>
                </c:pt>
                <c:pt idx="2">
                  <c:v>51</c:v>
                </c:pt>
                <c:pt idx="3">
                  <c:v>92</c:v>
                </c:pt>
                <c:pt idx="4">
                  <c:v>114</c:v>
                </c:pt>
                <c:pt idx="5">
                  <c:v>179</c:v>
                </c:pt>
                <c:pt idx="6">
                  <c:v>245</c:v>
                </c:pt>
                <c:pt idx="7">
                  <c:v>307</c:v>
                </c:pt>
                <c:pt idx="8">
                  <c:v>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6-4CC2-9E67-ABA31DE72C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Wegovy Pill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33</c:v>
                </c:pt>
                <c:pt idx="6">
                  <c:v>85</c:v>
                </c:pt>
                <c:pt idx="7">
                  <c:v>168</c:v>
                </c:pt>
                <c:pt idx="8">
                  <c:v>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B6-4CC2-9E67-ABA31DE72C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Ozempic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5</c:v>
                </c:pt>
                <c:pt idx="6">
                  <c:v>5</c:v>
                </c:pt>
                <c:pt idx="7">
                  <c:v>8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B6-4CC2-9E67-ABA31DE72C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5EA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78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54E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689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033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7886"/>
                </a:solidFill>
              </a:rPr>
              <a:t>Damien Center GLP-1 Program · Data through September 30, 2026 · Bridge Health Hub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108200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Damien Center GLP-1 Weight Loss Program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03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</a:rPr>
              <a:t>Program performance through September 30, 2026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</a:rPr>
              <a:t>Prepared by Bridge Health Hub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program is growing and profitable; the opportunity is getting more sign-ups to a first fill</a:t>
            </a:r>
            <a:endParaRPr lang="en-US" sz="2800" dirty="0"/>
          </a:p>
        </p:txBody>
      </p:sp>
      <p:sp>
        <p:nvSpPr>
          <p:cNvPr id="4" name="kpi0"/>
          <p:cNvSpPr/>
          <p:nvPr/>
        </p:nvSpPr>
        <p:spPr>
          <a:xfrm>
            <a:off x="548640" y="1600200"/>
            <a:ext cx="1696669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709928"/>
            <a:ext cx="1422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4E5C"/>
                </a:solidFill>
              </a:rPr>
              <a:t>Active members, Sep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84248"/>
            <a:ext cx="1422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862</a:t>
            </a:r>
            <a:endParaRPr lang="en-US" sz="2800" dirty="0"/>
          </a:p>
        </p:txBody>
      </p:sp>
      <p:sp>
        <p:nvSpPr>
          <p:cNvPr id="8" name="kpi1"/>
          <p:cNvSpPr/>
          <p:nvPr/>
        </p:nvSpPr>
        <p:spPr>
          <a:xfrm>
            <a:off x="2428189" y="1600200"/>
            <a:ext cx="1696669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565349" y="1709928"/>
            <a:ext cx="1422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4E5C"/>
                </a:solidFill>
              </a:rPr>
              <a:t>GLP-1 fills, Sep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5349" y="1984248"/>
            <a:ext cx="1422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673</a:t>
            </a:r>
            <a:endParaRPr lang="en-US" sz="2800" dirty="0"/>
          </a:p>
        </p:txBody>
      </p:sp>
      <p:sp>
        <p:nvSpPr>
          <p:cNvPr id="12" name="kpi2"/>
          <p:cNvSpPr/>
          <p:nvPr/>
        </p:nvSpPr>
        <p:spPr>
          <a:xfrm>
            <a:off x="4307738" y="1600200"/>
            <a:ext cx="1696669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444898" y="1709928"/>
            <a:ext cx="1422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4E5C"/>
                </a:solidFill>
              </a:rPr>
              <a:t>Program proceeds, Sep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44898" y="1984248"/>
            <a:ext cx="1422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$371K</a:t>
            </a:r>
            <a:endParaRPr lang="en-US" sz="2800" dirty="0"/>
          </a:p>
        </p:txBody>
      </p:sp>
      <p:sp>
        <p:nvSpPr>
          <p:cNvPr id="16" name="kpi3"/>
          <p:cNvSpPr/>
          <p:nvPr/>
        </p:nvSpPr>
        <p:spPr>
          <a:xfrm>
            <a:off x="6187288" y="1600200"/>
            <a:ext cx="1696669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24448" y="1709928"/>
            <a:ext cx="1422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4E5C"/>
                </a:solidFill>
              </a:rPr>
              <a:t>Program proceeds, YTD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24448" y="1984248"/>
            <a:ext cx="1422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$962K</a:t>
            </a:r>
            <a:endParaRPr lang="en-US" sz="2800" dirty="0"/>
          </a:p>
        </p:txBody>
      </p:sp>
      <p:sp>
        <p:nvSpPr>
          <p:cNvPr id="20" name="kpi4"/>
          <p:cNvSpPr/>
          <p:nvPr/>
        </p:nvSpPr>
        <p:spPr>
          <a:xfrm>
            <a:off x="8066837" y="1600200"/>
            <a:ext cx="1696669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03997" y="1709928"/>
            <a:ext cx="1559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4E5C"/>
                </a:solidFill>
              </a:rPr>
              <a:t>Sign-ups who filled 1st Rx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03997" y="1984248"/>
            <a:ext cx="1422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69%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203997" y="2514600"/>
            <a:ext cx="1559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Members joined before Sep</a:t>
            </a:r>
            <a:endParaRPr lang="en-US" sz="1000" dirty="0"/>
          </a:p>
        </p:txBody>
      </p:sp>
      <p:sp>
        <p:nvSpPr>
          <p:cNvPr id="24" name="kpi5"/>
          <p:cNvSpPr/>
          <p:nvPr/>
        </p:nvSpPr>
        <p:spPr>
          <a:xfrm>
            <a:off x="9946386" y="1600200"/>
            <a:ext cx="1696669" cy="1325880"/>
          </a:xfrm>
          <a:prstGeom prst="roundRect">
            <a:avLst>
              <a:gd name="adj" fmla="val 5517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083546" y="1709928"/>
            <a:ext cx="1422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4E5C"/>
                </a:solidFill>
              </a:rPr>
              <a:t>1st-fill patients who refilled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83546" y="1984248"/>
            <a:ext cx="14223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94%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10083546" y="2514600"/>
            <a:ext cx="1422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Patients with time to refill</a:t>
            </a:r>
            <a:endParaRPr lang="en-US" sz="100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234858827"/>
              </p:ext>
            </p:extLst>
          </p:nvPr>
        </p:nvGraphicFramePr>
        <p:xfrm>
          <a:off x="548640" y="3154680"/>
          <a:ext cx="53949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6355080" y="3200400"/>
            <a:ext cx="5287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1820"/>
                </a:solidFill>
              </a:rPr>
              <a:t>What you need to know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3657600"/>
            <a:ext cx="528797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rgbClr val="131820"/>
                </a:solidFill>
              </a:rPr>
              <a:t>Growing and profitable. </a:t>
            </a:r>
            <a:r>
              <a:rPr lang="en-US" sz="1200" dirty="0">
                <a:solidFill>
                  <a:srgbClr val="131820"/>
                </a:solidFill>
              </a:rPr>
              <a:t>$371K in September proceeds on 673 fills; $962K year to date, after ad spend.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rgbClr val="131820"/>
                </a:solidFill>
              </a:rPr>
              <a:t>EPIC and broker partners are effective.</a:t>
            </a:r>
            <a:r>
              <a:rPr lang="en-US" sz="1200" dirty="0">
                <a:solidFill>
                  <a:srgbClr val="131820"/>
                </a:solidFill>
              </a:rPr>
              <a:t>  Broker partners represented 62% of September enrollments.</a:t>
            </a:r>
            <a:endParaRPr lang="en-US" sz="1200" b="1" dirty="0">
              <a:solidFill>
                <a:srgbClr val="131820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rgbClr val="131820"/>
                </a:solidFill>
              </a:rPr>
              <a:t>Paid media spend is paying off. </a:t>
            </a:r>
            <a:r>
              <a:rPr lang="en-US" sz="1200" dirty="0">
                <a:solidFill>
                  <a:srgbClr val="131820"/>
                </a:solidFill>
              </a:rPr>
              <a:t>Every $1 of media spend has returned $4.63 of pharmacy margin 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rgbClr val="131820"/>
                </a:solidFill>
              </a:rPr>
              <a:t>Drop-off happens before the first fill. </a:t>
            </a:r>
            <a:r>
              <a:rPr lang="en-US" sz="1200" dirty="0">
                <a:solidFill>
                  <a:srgbClr val="131820"/>
                </a:solidFill>
              </a:rPr>
              <a:t>90% of sign-ups saw a provider, 80% were prescribed, 69% filled.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rgbClr val="131820"/>
                </a:solidFill>
              </a:rPr>
              <a:t>Once patients start, they stay. </a:t>
            </a:r>
            <a:r>
              <a:rPr lang="en-US" sz="1200" dirty="0">
                <a:solidFill>
                  <a:srgbClr val="131820"/>
                </a:solidFill>
              </a:rPr>
              <a:t>94% came back for a second fill; 87% were still filling at fill 3.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rgbClr val="131820"/>
                </a:solidFill>
              </a:rPr>
              <a:t>Wegovy pill utilization is becoming material. </a:t>
            </a:r>
            <a:r>
              <a:rPr lang="en-US" sz="1200" dirty="0">
                <a:solidFill>
                  <a:srgbClr val="131820"/>
                </a:solidFill>
              </a:rPr>
              <a:t>38% of GLP-1 fills were from the Wegovy pill in September.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PROGRAM FINANCIALS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September program proceeds reached $371K after ad spend, $962K year to date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0350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664689"/>
              </p:ext>
            </p:extLst>
          </p:nvPr>
        </p:nvGraphicFramePr>
        <p:xfrm>
          <a:off x="6949440" y="1645920"/>
          <a:ext cx="4663440" cy="3840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Year to date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/>
                        <a:t>Pharmacy revenue</a:t>
                      </a:r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/>
                        <a:t>$2,336,983</a:t>
                      </a:r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50512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Pharmacy gross margin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$1,758,625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Membership fees collected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$44,164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Ad spend (media)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454E5C"/>
                          </a:solidFill>
                        </a:rPr>
                        <a:t>−$142,033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Alpha platform fees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454E5C"/>
                          </a:solidFill>
                        </a:rPr>
                        <a:t>−$411,745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Bridge fees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454E5C"/>
                          </a:solidFill>
                        </a:rPr>
                        <a:t>−$195,900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Broker commissions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454E5C"/>
                          </a:solidFill>
                        </a:rPr>
                        <a:t>−$10,060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1820"/>
                          </a:solidFill>
                        </a:rPr>
                        <a:t>Cost to fill ($40 per fill)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454E5C"/>
                          </a:solidFill>
                        </a:rPr>
                        <a:t>−$81,360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31820"/>
                          </a:solidFill>
                        </a:rPr>
                        <a:t>Program proceeds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31820"/>
                          </a:solidFill>
                        </a:rPr>
                        <a:t>$961,691</a:t>
                      </a:r>
                      <a:endParaRPr lang="en-US" sz="1300" dirty="0"/>
                    </a:p>
                  </a:txBody>
                  <a:tcPr marT="36576" marB="36576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949440" y="5587739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Proceeds = pharmacy gross margin + membership fees − media ad spend − Alpha and Bridge fees − broker commissions − $40 cost to fill. Ad spend is media spend from the agency's reports (agency fees not included). September gross margin per fill: $911.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WHERE ARE PATIENTS COMING FROM?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EPIC and broker partners drove 62% of September enrollments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642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922087"/>
              </p:ext>
            </p:extLst>
          </p:nvPr>
        </p:nvGraphicFramePr>
        <p:xfrm>
          <a:off x="548640" y="4206240"/>
          <a:ext cx="11064241" cy="1856232"/>
        </p:xfrm>
        <a:graphic>
          <a:graphicData uri="http://schemas.openxmlformats.org/drawingml/2006/table">
            <a:tbl>
              <a:tblPr/>
              <a:tblGrid>
                <a:gridCol w="2704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403">
                  <a:extLst>
                    <a:ext uri="{9D8B030D-6E8A-4147-A177-3AD203B41FA5}">
                      <a16:colId xmlns:a16="http://schemas.microsoft.com/office/drawing/2014/main" val="1003864543"/>
                    </a:ext>
                  </a:extLst>
                </a:gridCol>
                <a:gridCol w="1147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5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4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1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Enrolled in Sept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Enrolled YTD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Filled 1st Rx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Refilled 1st → 2nd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GLP-1 fills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Gross margin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EPIC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120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452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44%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77%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93%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748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$696,172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Paid Media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93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417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62%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92%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804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$671,400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Employee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6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67%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97%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214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$160,234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LHD  (new since Aug)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43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76%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$39,729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McGohan Brabender  (new since Aug)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7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$6,228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Other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4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66%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138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$107,308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Fill rate uses members who enrolled before September. Refill rate uses first fills at least 45 days before the as-of date. Paid Media = sign-ups with no referral or coupon code.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IS PAID MEDIA PAYING OFF?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$1 of media spend has returned $4.63 of pharmacy margin from Paid Media patients</a:t>
            </a:r>
            <a:endParaRPr lang="en-US" sz="2800" dirty="0"/>
          </a:p>
        </p:txBody>
      </p:sp>
      <p:sp>
        <p:nvSpPr>
          <p:cNvPr id="4" name="pm0"/>
          <p:cNvSpPr/>
          <p:nvPr/>
        </p:nvSpPr>
        <p:spPr>
          <a:xfrm>
            <a:off x="548640" y="16002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13232" y="1709928"/>
            <a:ext cx="227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Media spend, campaign to date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$142K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50592"/>
            <a:ext cx="22729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886"/>
                </a:solidFill>
              </a:rPr>
              <a:t>Jan ‘26 – Sep '26</a:t>
            </a:r>
            <a:endParaRPr lang="en-US" sz="1100" dirty="0"/>
          </a:p>
        </p:txBody>
      </p:sp>
      <p:sp>
        <p:nvSpPr>
          <p:cNvPr id="8" name="pm1"/>
          <p:cNvSpPr/>
          <p:nvPr/>
        </p:nvSpPr>
        <p:spPr>
          <a:xfrm>
            <a:off x="3379394" y="16002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543986" y="1709928"/>
            <a:ext cx="227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Paid Media sign-ups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43986" y="19659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414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43986" y="2450592"/>
            <a:ext cx="22729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886"/>
                </a:solidFill>
              </a:rPr>
              <a:t>$343 of spend per sign-up</a:t>
            </a:r>
            <a:endParaRPr lang="en-US" sz="1100" dirty="0"/>
          </a:p>
        </p:txBody>
      </p:sp>
      <p:sp>
        <p:nvSpPr>
          <p:cNvPr id="12" name="pm2"/>
          <p:cNvSpPr/>
          <p:nvPr/>
        </p:nvSpPr>
        <p:spPr>
          <a:xfrm>
            <a:off x="6210148" y="16002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74740" y="1709928"/>
            <a:ext cx="227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Started therapy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74740" y="19659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1820"/>
                </a:solidFill>
              </a:rPr>
              <a:t>243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374740" y="2450592"/>
            <a:ext cx="22729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7886"/>
                </a:solidFill>
              </a:rPr>
              <a:t>$584 per patient started</a:t>
            </a:r>
            <a:endParaRPr lang="en-US" sz="1100" b="1" dirty="0"/>
          </a:p>
        </p:txBody>
      </p:sp>
      <p:sp>
        <p:nvSpPr>
          <p:cNvPr id="16" name="pm3"/>
          <p:cNvSpPr/>
          <p:nvPr/>
        </p:nvSpPr>
        <p:spPr>
          <a:xfrm>
            <a:off x="9040901" y="1600200"/>
            <a:ext cx="2602154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205493" y="1709928"/>
            <a:ext cx="2272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Pharmacy gross margin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05493" y="1965960"/>
            <a:ext cx="2272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5CAB"/>
                </a:solidFill>
              </a:rPr>
              <a:t>$658K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205493" y="2450592"/>
            <a:ext cx="22729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7886"/>
                </a:solidFill>
              </a:rPr>
              <a:t>786 fills from these patients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593144"/>
              </p:ext>
            </p:extLst>
          </p:nvPr>
        </p:nvGraphicFramePr>
        <p:xfrm>
          <a:off x="548640" y="2971800"/>
          <a:ext cx="11064240" cy="2932176"/>
        </p:xfrm>
        <a:graphic>
          <a:graphicData uri="http://schemas.openxmlformats.org/drawingml/2006/table">
            <a:tbl>
              <a:tblPr/>
              <a:tblGrid>
                <a:gridCol w="1189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73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10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73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7301">
                  <a:extLst>
                    <a:ext uri="{9D8B030D-6E8A-4147-A177-3AD203B41FA5}">
                      <a16:colId xmlns:a16="http://schemas.microsoft.com/office/drawing/2014/main" val="369800214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Sign-up month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Media spend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Sign-ups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 / sign-up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Started therapy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 / patient started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Fills to date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Gross margin to date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Return on spend</a:t>
                      </a:r>
                      <a:endParaRPr lang="en-US" sz="1100" dirty="0"/>
                    </a:p>
                    <a:p>
                      <a:pPr marL="0" indent="0" algn="r">
                        <a:buNone/>
                      </a:pP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Jan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$3,092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$773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$1,031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$22,017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Feb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$3,869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Mar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$1,704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$81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$122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77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$57,100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Apr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$15,089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$408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$580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136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$103,726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687%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May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$19,629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$409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$727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116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$93,277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496%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Jun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$24,348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73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$334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$594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153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$129,385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531%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Jul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$24,858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$552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$857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$73,492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296%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Aug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$25,529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89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$287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57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$448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$120,843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473%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Sep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$27,784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93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$299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$631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59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$54,652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/>
                        <a:t>197%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2026 total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$142,033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414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$343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243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$584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786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$658,361</a:t>
                      </a:r>
                      <a:endParaRPr lang="en-US" sz="1100" dirty="0"/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/>
                        <a:t>463%</a:t>
                      </a: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Spend from the agency's Google + Meta reports. Sign-ups are Alpha members with no referral or coupon code; therapy starts, fills and margin come from linking them to Damien Pharmacy fills. Recent months are still building margin (September sign-ups have had at most one fill).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D93BCA-D084-771D-AD3E-6EE27B2C0548}"/>
              </a:ext>
            </a:extLst>
          </p:cNvPr>
          <p:cNvSpPr/>
          <p:nvPr/>
        </p:nvSpPr>
        <p:spPr>
          <a:xfrm>
            <a:off x="6210147" y="2404306"/>
            <a:ext cx="1755502" cy="3657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ARE PATIENTS SEEING A PROVIDER AND FILLING?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69% of sign-ups fill their first prescription; the losses happen before the pharmacy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583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23434"/>
                </a:solidFill>
              </a:rPr>
              <a:t>76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never completed a provider visit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788920" y="4983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23434"/>
                </a:solidFill>
              </a:rPr>
              <a:t>76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saw a provider but were not prescribed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4983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23434"/>
                </a:solidFill>
              </a:rPr>
              <a:t>85</a:t>
            </a:r>
            <a:endParaRPr lang="en-US" sz="2200" dirty="0"/>
          </a:p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were prescribed but never filled</a:t>
            </a:r>
            <a:endParaRPr lang="en-US" sz="2200" dirty="0"/>
          </a:p>
        </p:txBody>
      </p:sp>
      <p:sp>
        <p:nvSpPr>
          <p:cNvPr id="8" name="timing"/>
          <p:cNvSpPr/>
          <p:nvPr/>
        </p:nvSpPr>
        <p:spPr>
          <a:xfrm>
            <a:off x="7589520" y="1600200"/>
            <a:ext cx="4023360" cy="4434840"/>
          </a:xfrm>
          <a:prstGeom prst="roundRect">
            <a:avLst>
              <a:gd name="adj" fmla="val 1818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8181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820"/>
                </a:solidFill>
              </a:rPr>
              <a:t>Median time between steps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31820"/>
                </a:solidFill>
              </a:rPr>
              <a:t>Under 1 hour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Sign-up to provider visit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31820"/>
                </a:solidFill>
              </a:rPr>
              <a:t>17 hours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Visit to prescription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31820"/>
                </a:solidFill>
              </a:rPr>
              <a:t>1 day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Prescription to first fill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31820"/>
                </a:solidFill>
              </a:rPr>
              <a:t>86%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5504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of prescribed patients filled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ARE PATIENTS REFILLING?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Once patients start, more than 9 in 10 come back for each refill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4066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645920"/>
          <a:ext cx="3291840" cy="263347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Came back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Eligible pts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1 → 2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31820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54E5C"/>
                          </a:solidFill>
                        </a:rPr>
                        <a:t>391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2 → 3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31820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54E5C"/>
                          </a:solidFill>
                        </a:rPr>
                        <a:t>271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3 → 4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31820"/>
                          </a:solidFill>
                        </a:rPr>
                        <a:t>89%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54E5C"/>
                          </a:solidFill>
                        </a:rPr>
                        <a:t>171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4 → 5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31820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54E5C"/>
                          </a:solidFill>
                        </a:rPr>
                        <a:t>85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5 → 6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31820"/>
                          </a:solidFill>
                        </a:rPr>
                        <a:t>97%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54E5C"/>
                          </a:solidFill>
                        </a:rPr>
                        <a:t>62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6 → 7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31820"/>
                          </a:solidFill>
                        </a:rPr>
                        <a:t>85%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454E5C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1820"/>
                          </a:solidFill>
                        </a:rPr>
                        <a:t>Fill 7 → 8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6F7886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6F7886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Step rates count only patients whose fill was at least 45 days before September 30, 2026, so recent starters who haven't had time to refill aren't counted as drop-offs. Typical gap between fills is about 27 days. Gray steps have fewer than 30 eligible patients. Fill counts: Fill 1 670, Fill 2 494, Fill 3 311, Fill 4 203, Fill 5 118, Fill 6 68, Fill 7 41, Fill 8 24 patients.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ARE PATIENTS FILLING?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Wegovy pill reached 38% of fills in September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7863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ix"/>
          <p:cNvSpPr/>
          <p:nvPr/>
        </p:nvSpPr>
        <p:spPr>
          <a:xfrm>
            <a:off x="8778240" y="160020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F4F6F8"/>
          </a:solidFill>
          <a:ln w="9525">
            <a:solidFill>
              <a:srgbClr val="E1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9006840" y="1783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2A78D6"/>
                </a:solidFill>
              </a:rPr>
              <a:t>411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Wegovy pen fills, Sep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EB6834"/>
                </a:solidFill>
              </a:rPr>
              <a:t>256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Wegovy pill fills, Sep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31820"/>
                </a:solidFill>
              </a:rPr>
              <a:t>6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4544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4E5C"/>
                </a:solidFill>
              </a:rPr>
              <a:t>Ozempic fills, Sep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5166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Completed Wegovy and Ozempic dispenses at Damien Pharmacy, all patients.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Definitions and data notes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1820"/>
                </a:solidFill>
              </a:rPr>
              <a:t>Enrollment, visits, prescriptions, cancellations and billing come from the Alpha membership file. Fills, revenue and margin come from the Damien Pharmacy dispense file. Test accounts are excluded.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1820"/>
                </a:solidFill>
              </a:rPr>
              <a:t>Patients are linked by the pharmacy's Patient Alternate ID, which is the first 8 characters of the Alpha member ID. 1,952 of 2,034 GLP-1 fills (96%) matched a member; 51 fills had no patient ID and 20 IDs did not match. Unmatched fills count toward revenue and the P&amp;L but not patient-level metrics.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1820"/>
                </a:solidFill>
              </a:rPr>
              <a:t>A fill is a completed Wegovy or Ozempic dispense on or before the as-of date. Cancelled and awaiting-pickup transactions are excluded. Gross margin is total pharmacy revenue less acquisition cost.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1820"/>
                </a:solidFill>
              </a:rPr>
              <a:t>A member is billed for a month if their membership was active at any point in that month, so a member who cancels in June and terminates in July counts in both months.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1820"/>
                </a:solidFill>
              </a:rPr>
              <a:t>Funnel and fill rates use members who enrolled before September so each has had at least 30 days. Refill step rates use fills at least 45 days before the as-of date.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1820"/>
                </a:solidFill>
              </a:rPr>
              <a:t>Cost to fill is an assumed $40 per fill. Ad spend is Google + Meta media spend from the agency's paid media reports; agency fees are not included.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HOW LONG ARE PATIENTS STAYING?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Appendix – Member retention by month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046783"/>
              </p:ext>
            </p:extLst>
          </p:nvPr>
        </p:nvGraphicFramePr>
        <p:xfrm>
          <a:off x="548640" y="1783080"/>
          <a:ext cx="10698482" cy="3657600"/>
        </p:xfrm>
        <a:graphic>
          <a:graphicData uri="http://schemas.openxmlformats.org/drawingml/2006/table">
            <a:tbl>
              <a:tblPr/>
              <a:tblGrid>
                <a:gridCol w="1043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50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Joined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Members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M0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M1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M2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M3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M4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M5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M6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M7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54E5C"/>
                          </a:solidFill>
                        </a:rPr>
                        <a:t>M8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Jan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A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Feb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A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88%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A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63%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44%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44%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38%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Mar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67%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63%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63%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Apr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74%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74%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68%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May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64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61%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53%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47%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44%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Jun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166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73%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57%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Jul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138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78%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1820"/>
                          </a:solidFill>
                        </a:rPr>
                        <a:t>65%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A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Aug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276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84%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A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1820"/>
                          </a:solidFill>
                        </a:rPr>
                        <a:t>Sep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F7886"/>
                          </a:solidFill>
                        </a:rPr>
                        <a:t>273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45720" marR="45720" marT="18288" marB="18288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7886"/>
                </a:solidFill>
              </a:rPr>
              <a:t>Share of each sign-up month's members whose membership was still active at the end of each month after joining (M0 = joining month).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8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dge Program Review">
  <a:themeElements>
    <a:clrScheme name="Bridge Program Review">
      <a:dk1>
        <a:srgbClr val="131820"/>
      </a:dk1>
      <a:lt1>
        <a:srgbClr val="FFFFFF"/>
      </a:lt1>
      <a:dk2>
        <a:srgbClr val="1F3A5F"/>
      </a:dk2>
      <a:lt2>
        <a:srgbClr val="F4F6F8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008300"/>
      </a:accent6>
      <a:hlink>
        <a:srgbClr val="1C5CAB"/>
      </a:hlink>
      <a:folHlink>
        <a:srgbClr val="1F3A5F"/>
      </a:folHlink>
    </a:clrScheme>
    <a:fontScheme name="Bridge Program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1491</Words>
  <Application>Microsoft Office PowerPoint</Application>
  <PresentationFormat>Widescreen</PresentationFormat>
  <Paragraphs>382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Bridge Program Review</vt:lpstr>
      <vt:lpstr>Damien Center GLP-1 Weight Loss Program</vt:lpstr>
      <vt:lpstr>The program is growing and profitable; the opportunity is getting more sign-ups to a first fill</vt:lpstr>
      <vt:lpstr>September program proceeds reached $371K after ad spend, $962K year to date</vt:lpstr>
      <vt:lpstr>EPIC and broker partners drove 62% of September enrollments</vt:lpstr>
      <vt:lpstr>Every $1 of media spend has returned $4.63 of pharmacy margin from Paid Media patients</vt:lpstr>
      <vt:lpstr>69% of sign-ups fill their first prescription; the losses happen before the pharmacy</vt:lpstr>
      <vt:lpstr>Once patients start, more than 9 in 10 come back for each refill</vt:lpstr>
      <vt:lpstr>Wegovy pill reached 38% of fills in September</vt:lpstr>
      <vt:lpstr>Definitions and data notes</vt:lpstr>
      <vt:lpstr>Appendix – Member retention by month</vt:lpstr>
    </vt:vector>
  </TitlesOfParts>
  <Company>Bridge Health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Damien Center Program Dashboard</dc:title>
  <dc:subject>PptxGenJS Presentation</dc:subject>
  <dc:creator>PptxGenJS</dc:creator>
  <cp:lastModifiedBy>Brady Atherton</cp:lastModifiedBy>
  <cp:revision>3</cp:revision>
  <dcterms:created xsi:type="dcterms:W3CDTF">2026-10-08T11:45:03Z</dcterms:created>
  <dcterms:modified xsi:type="dcterms:W3CDTF">2026-10-08T21:05:40Z</dcterms:modified>
</cp:coreProperties>
</file>